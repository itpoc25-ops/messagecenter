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Microsoft 365 Platform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9FC6F0"/>
                </a:solidFill>
                <a:latin typeface="Segoe UI"/>
              </a:rPr>
              <a:t>30 / 60 / 90-Day Outlook  —  Architecture &amp; Leadership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SharePoint Online   •   Microsoft Teams   •   Microsoft Copilot   •   Exchange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C9D3E0"/>
                </a:solidFill>
                <a:latin typeface="Segoe UI"/>
              </a:rPr>
              <a:t>Prepared for: Platform Architecture team &amp;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9D3E0"/>
                </a:solidFill>
                <a:latin typeface="Segoe UI"/>
              </a:rPr>
              <a:t>Scope: Worldwide tenants  |  Window: 10 Jun – 08 Sep 2026  |  Source: Microsoft 365 Public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1325880"/>
            <a:ext cx="457200" cy="457200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44168"/>
            <a:ext cx="4572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98448"/>
            <a:ext cx="100584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32A"/>
                </a:solidFill>
                <a:latin typeface="Segoe UI"/>
              </a:rPr>
              <a:t>How to read this roadmap   </a:t>
            </a:r>
            <a:r>
              <a:rPr sz="1200" b="0" i="0">
                <a:solidFill>
                  <a:srgbClr val="606670"/>
                </a:solidFill>
                <a:latin typeface="Segoe UI"/>
              </a:rPr>
              <a:t>— Methodology, scope &amp; status legend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892808"/>
            <a:ext cx="457200" cy="457200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11096"/>
            <a:ext cx="4572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65376"/>
            <a:ext cx="100584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32A"/>
                </a:solidFill>
                <a:latin typeface="Segoe UI"/>
              </a:rPr>
              <a:t>Executive summary   </a:t>
            </a:r>
            <a:r>
              <a:rPr sz="1200" b="0" i="0">
                <a:solidFill>
                  <a:srgbClr val="606670"/>
                </a:solidFill>
                <a:latin typeface="Segoe UI"/>
              </a:rPr>
              <a:t>— Volume by product and the themes that matter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459736"/>
            <a:ext cx="457200" cy="457200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78024"/>
            <a:ext cx="4572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432304"/>
            <a:ext cx="100584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32A"/>
                </a:solidFill>
                <a:latin typeface="Segoe UI"/>
              </a:rPr>
              <a:t>Roadmap at a glance   </a:t>
            </a:r>
            <a:r>
              <a:rPr sz="1200" b="0" i="0">
                <a:solidFill>
                  <a:srgbClr val="606670"/>
                </a:solidFill>
                <a:latin typeface="Segoe UI"/>
              </a:rPr>
              <a:t>— 30/60/90 matrix across all four workloads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026664"/>
            <a:ext cx="457200" cy="457200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44952"/>
            <a:ext cx="4572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999232"/>
            <a:ext cx="100584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32A"/>
                </a:solidFill>
                <a:latin typeface="Segoe UI"/>
              </a:rPr>
              <a:t>SharePoint Online   </a:t>
            </a:r>
            <a:r>
              <a:rPr sz="1200" b="0" i="0">
                <a:solidFill>
                  <a:srgbClr val="606670"/>
                </a:solidFill>
                <a:latin typeface="Segoe UI"/>
              </a:rPr>
              <a:t>— Governance, AI authoring &amp; sharing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3593592"/>
            <a:ext cx="457200" cy="457200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11880"/>
            <a:ext cx="4572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566160"/>
            <a:ext cx="100584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32A"/>
                </a:solidFill>
                <a:latin typeface="Segoe UI"/>
              </a:rPr>
              <a:t>Microsoft Teams   </a:t>
            </a:r>
            <a:r>
              <a:rPr sz="1200" b="0" i="0">
                <a:solidFill>
                  <a:srgbClr val="606670"/>
                </a:solidFill>
                <a:latin typeface="Segoe UI"/>
              </a:rPr>
              <a:t>— Meetings, security &amp; calling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4160520"/>
            <a:ext cx="457200" cy="457200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178808"/>
            <a:ext cx="4572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133088"/>
            <a:ext cx="100584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32A"/>
                </a:solidFill>
                <a:latin typeface="Segoe UI"/>
              </a:rPr>
              <a:t>Microsoft Copilot   </a:t>
            </a:r>
            <a:r>
              <a:rPr sz="1200" b="0" i="0">
                <a:solidFill>
                  <a:srgbClr val="606670"/>
                </a:solidFill>
                <a:latin typeface="Segoe UI"/>
              </a:rPr>
              <a:t>— Analytics, agents &amp; personalization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" y="4727448"/>
            <a:ext cx="457200" cy="457200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745736"/>
            <a:ext cx="4572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700016"/>
            <a:ext cx="100584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32A"/>
                </a:solidFill>
                <a:latin typeface="Segoe UI"/>
              </a:rPr>
              <a:t>Exchange Online   </a:t>
            </a:r>
            <a:r>
              <a:rPr sz="1200" b="0" i="0">
                <a:solidFill>
                  <a:srgbClr val="606670"/>
                </a:solidFill>
                <a:latin typeface="Segoe UI"/>
              </a:rPr>
              <a:t>— Mail flow &amp; client updates</a:t>
            </a:r>
          </a:p>
        </p:txBody>
      </p:sp>
      <p:sp>
        <p:nvSpPr>
          <p:cNvPr id="25" name="Oval 24"/>
          <p:cNvSpPr/>
          <p:nvPr/>
        </p:nvSpPr>
        <p:spPr>
          <a:xfrm>
            <a:off x="502920" y="5294376"/>
            <a:ext cx="457200" cy="457200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312664"/>
            <a:ext cx="4572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266944"/>
            <a:ext cx="100584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32A"/>
                </a:solidFill>
                <a:latin typeface="Segoe UI"/>
              </a:rPr>
              <a:t>Recommended next steps   </a:t>
            </a:r>
            <a:r>
              <a:rPr sz="1200" b="0" i="0">
                <a:solidFill>
                  <a:srgbClr val="606670"/>
                </a:solidFill>
                <a:latin typeface="Segoe UI"/>
              </a:rPr>
              <a:t>— Decisions, owners &amp; change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0667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How to read this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32A"/>
                </a:solidFill>
                <a:latin typeface="Segoe UI"/>
              </a:rPr>
              <a:t>Time horizons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30-DAY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581912"/>
            <a:ext cx="45720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32A"/>
                </a:solidFill>
                <a:latin typeface="Segoe UI"/>
              </a:rPr>
              <a:t>June CY2026  </a:t>
            </a:r>
            <a:r>
              <a:rPr sz="1100" b="0" i="0">
                <a:solidFill>
                  <a:srgbClr val="606670"/>
                </a:solidFill>
                <a:latin typeface="Segoe UI"/>
              </a:rPr>
              <a:t>target GA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60-DAY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39112"/>
            <a:ext cx="45720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32A"/>
                </a:solidFill>
                <a:latin typeface="Segoe UI"/>
              </a:rPr>
              <a:t>July CY2026  </a:t>
            </a:r>
            <a:r>
              <a:rPr sz="1100" b="0" i="0">
                <a:solidFill>
                  <a:srgbClr val="606670"/>
                </a:solidFill>
                <a:latin typeface="Segoe UI"/>
              </a:rPr>
              <a:t>target GA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1460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90-DAY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496312"/>
            <a:ext cx="45720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32A"/>
                </a:solidFill>
                <a:latin typeface="Segoe UI"/>
              </a:rPr>
              <a:t>Aug–Sep CY2026  </a:t>
            </a:r>
            <a:r>
              <a:rPr sz="1100" b="0" i="0">
                <a:solidFill>
                  <a:srgbClr val="606670"/>
                </a:solidFill>
                <a:latin typeface="Segoe UI"/>
              </a:rPr>
              <a:t>target 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5468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32A"/>
                </a:solidFill>
                <a:latin typeface="Segoe UI"/>
              </a:rPr>
              <a:t>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118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ROLLING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593592"/>
            <a:ext cx="45720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06670"/>
                </a:solidFill>
                <a:latin typeface="Segoe UI"/>
              </a:rPr>
              <a:t>Deploying to tenants now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032504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IN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4014216"/>
            <a:ext cx="45720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06670"/>
                </a:solidFill>
                <a:latin typeface="Segoe UI"/>
              </a:rPr>
              <a:t>Built; GA targeted in window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45312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LAUNCHED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34840"/>
            <a:ext cx="45720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06670"/>
                </a:solidFill>
                <a:latin typeface="Segoe UI"/>
              </a:rPr>
              <a:t>Generally available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7375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CANCELLED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855464"/>
            <a:ext cx="45720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06670"/>
                </a:solidFill>
                <a:latin typeface="Segoe UI"/>
              </a:rPr>
              <a:t>Removed from roadmap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143000"/>
            <a:ext cx="5212080" cy="4572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1325880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1F3A"/>
                </a:solidFill>
                <a:latin typeface="Segoe UI"/>
              </a:rPr>
              <a:t>Scope &amp; method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1783080"/>
            <a:ext cx="4846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F6CBD"/>
                </a:solidFill>
                <a:latin typeface="Segoe UI"/>
              </a:rPr>
              <a:t>Source:  </a:t>
            </a:r>
            <a:r>
              <a:rPr sz="1150" b="0" i="0">
                <a:solidFill>
                  <a:srgbClr val="20232A"/>
                </a:solidFill>
                <a:latin typeface="Segoe UI"/>
              </a:rPr>
              <a:t>Microsoft 365 public roadmap feed, pulled live 10 Jun 2026.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569464"/>
            <a:ext cx="4846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F6CBD"/>
                </a:solidFill>
                <a:latin typeface="Segoe UI"/>
              </a:rPr>
              <a:t>Tenant scope:  </a:t>
            </a:r>
            <a:r>
              <a:rPr sz="1150" b="0" i="0">
                <a:solidFill>
                  <a:srgbClr val="20232A"/>
                </a:solidFill>
                <a:latin typeface="Segoe UI"/>
              </a:rPr>
              <a:t>Worldwide (Standard Multi-Tenant) only — GCC / GCC-High / DoD excluded.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355848"/>
            <a:ext cx="4846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F6CBD"/>
                </a:solidFill>
                <a:latin typeface="Segoe UI"/>
              </a:rPr>
              <a:t>Date precision:  </a:t>
            </a:r>
            <a:r>
              <a:rPr sz="1150" b="0" i="0">
                <a:solidFill>
                  <a:srgbClr val="20232A"/>
                </a:solidFill>
                <a:latin typeface="Segoe UI"/>
              </a:rPr>
              <a:t>Roadmap publishes GA at month granularity. Horizons map to: 30-day=June, 60-day=July, 90-day=Aug–Sep.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142232"/>
            <a:ext cx="4846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F6CBD"/>
                </a:solidFill>
                <a:latin typeface="Segoe UI"/>
              </a:rPr>
              <a:t>Curation:  </a:t>
            </a:r>
            <a:r>
              <a:rPr sz="1150" b="0" i="0">
                <a:solidFill>
                  <a:srgbClr val="20232A"/>
                </a:solidFill>
                <a:latin typeface="Segoe UI"/>
              </a:rPr>
              <a:t>Each product/horizon shows the top items by business impact (security, compliance, admin, AI, reach). Full counts shown per cell.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928616"/>
            <a:ext cx="4846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F6CBD"/>
                </a:solidFill>
                <a:latin typeface="Segoe UI"/>
              </a:rPr>
              <a:t>Caveat:  </a:t>
            </a:r>
            <a:r>
              <a:rPr sz="1150" b="0" i="0">
                <a:solidFill>
                  <a:srgbClr val="20232A"/>
                </a:solidFill>
                <a:latin typeface="Segoe UI"/>
              </a:rPr>
              <a:t>Roadmap dates are Microsoft targets and can shift. Validate against Message Center before committing plans.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0667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2697480" cy="141732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73152" cy="141732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2423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06670"/>
                </a:solidFill>
                <a:latin typeface="Segoe UI"/>
              </a:rPr>
              <a:t>TOTAL 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423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B1F3A"/>
                </a:solidFill>
                <a:latin typeface="Segoe UI"/>
              </a:rPr>
              <a:t>189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24231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06670"/>
                </a:solidFill>
                <a:latin typeface="Segoe UI"/>
              </a:rPr>
              <a:t>across 4 workloads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4992" y="1188720"/>
            <a:ext cx="2697480" cy="141732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64992" y="1188720"/>
            <a:ext cx="73152" cy="141732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325880"/>
            <a:ext cx="2423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06670"/>
                </a:solidFill>
                <a:latin typeface="Segoe UI"/>
              </a:rPr>
              <a:t>MICROSOFT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1627632"/>
            <a:ext cx="2423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B1F3A"/>
                </a:solidFill>
                <a:latin typeface="Segoe UI"/>
              </a:rPr>
              <a:t>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286000"/>
            <a:ext cx="24231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06670"/>
                </a:solidFill>
                <a:latin typeface="Segoe UI"/>
              </a:rPr>
              <a:t>largest workload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7064" y="1188720"/>
            <a:ext cx="2697480" cy="141732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188720"/>
            <a:ext cx="73152" cy="141732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325880"/>
            <a:ext cx="2423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06670"/>
                </a:solidFill>
                <a:latin typeface="Segoe UI"/>
              </a:rPr>
              <a:t>MICROSOFT COPILOT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627632"/>
            <a:ext cx="2423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B1F3A"/>
                </a:solidFill>
                <a:latin typeface="Segoe UI"/>
              </a:rPr>
              <a:t>78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2286000"/>
            <a:ext cx="24231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06670"/>
                </a:solidFill>
                <a:latin typeface="Segoe UI"/>
              </a:rPr>
              <a:t>AI &amp; analytics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9136" y="1188720"/>
            <a:ext cx="2697480" cy="141732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89136" y="1188720"/>
            <a:ext cx="73152" cy="141732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72016" y="1325880"/>
            <a:ext cx="2423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06670"/>
                </a:solidFill>
                <a:latin typeface="Segoe UI"/>
              </a:rPr>
              <a:t>PEAK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2016" y="1627632"/>
            <a:ext cx="2423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B1F3A"/>
                </a:solidFill>
                <a:latin typeface="Segoe UI"/>
              </a:rPr>
              <a:t>July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6" y="2286000"/>
            <a:ext cx="24231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06670"/>
                </a:solidFill>
                <a:latin typeface="Segoe UI"/>
              </a:rPr>
              <a:t>60-day horizon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88036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32A"/>
                </a:solidFill>
                <a:latin typeface="Segoe UI"/>
              </a:rPr>
              <a:t>Volume by workload (Worldwide, Jun–Sep)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383280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32A"/>
                </a:solidFill>
                <a:latin typeface="Segoe UI"/>
              </a:rPr>
              <a:t>SharePoint Online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3410712"/>
            <a:ext cx="1012873" cy="256032"/>
          </a:xfrm>
          <a:prstGeom prst="roundRect">
            <a:avLst/>
          </a:prstGeom>
          <a:solidFill>
            <a:srgbClr val="0383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7513" y="3383280"/>
            <a:ext cx="7315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32A"/>
                </a:solidFill>
                <a:latin typeface="Segoe UI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840480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32A"/>
                </a:solidFill>
                <a:latin typeface="Segoe UI"/>
              </a:rPr>
              <a:t>Microsoft Teams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3867912"/>
            <a:ext cx="6330461" cy="256032"/>
          </a:xfrm>
          <a:prstGeom prst="roundRect">
            <a:avLst/>
          </a:prstGeom>
          <a:solidFill>
            <a:srgbClr val="626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65101" y="3840480"/>
            <a:ext cx="7315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32A"/>
                </a:solidFill>
                <a:latin typeface="Segoe UI"/>
              </a:rPr>
              <a:t>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297680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32A"/>
                </a:solidFill>
                <a:latin typeface="Segoe UI"/>
              </a:rPr>
              <a:t>Microsoft Copilot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4325112"/>
            <a:ext cx="6583680" cy="256032"/>
          </a:xfrm>
          <a:prstGeom prst="round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4297680"/>
            <a:ext cx="7315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32A"/>
                </a:solidFill>
                <a:latin typeface="Segoe UI"/>
              </a:rPr>
              <a:t>78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754880"/>
            <a:ext cx="2194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32A"/>
                </a:solidFill>
                <a:latin typeface="Segoe UI"/>
              </a:rPr>
              <a:t>Exchange Online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0" y="4782312"/>
            <a:ext cx="2025747" cy="256032"/>
          </a:xfrm>
          <a:prstGeom prst="roundRect">
            <a:avLst/>
          </a:prstGeom>
          <a:solidFill>
            <a:srgbClr val="0A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60387" y="4754880"/>
            <a:ext cx="73152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32A"/>
                </a:solidFill>
                <a:latin typeface="Segoe UI"/>
              </a:rPr>
              <a:t>24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18120" y="2880360"/>
            <a:ext cx="3886200" cy="324612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3017520"/>
            <a:ext cx="3474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B1F3A"/>
                </a:solidFill>
                <a:latin typeface="Segoe UI"/>
              </a:rPr>
              <a:t>Themes to brief leadership on</a:t>
            </a:r>
          </a:p>
        </p:txBody>
      </p:sp>
      <p:sp>
        <p:nvSpPr>
          <p:cNvPr id="39" name="Oval 38"/>
          <p:cNvSpPr/>
          <p:nvPr/>
        </p:nvSpPr>
        <p:spPr>
          <a:xfrm>
            <a:off x="8046720" y="3483864"/>
            <a:ext cx="91440" cy="91440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20" y="3429000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32A"/>
                </a:solidFill>
                <a:latin typeface="Segoe UI"/>
              </a:rPr>
              <a:t>Security &amp; compliance dominate the Teams 30-day wave</a:t>
            </a:r>
          </a:p>
        </p:txBody>
      </p:sp>
      <p:sp>
        <p:nvSpPr>
          <p:cNvPr id="41" name="Oval 40"/>
          <p:cNvSpPr/>
          <p:nvPr/>
        </p:nvSpPr>
        <p:spPr>
          <a:xfrm>
            <a:off x="8046720" y="3995928"/>
            <a:ext cx="91440" cy="91440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20" y="3941064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32A"/>
                </a:solidFill>
                <a:latin typeface="Segoe UI"/>
              </a:rPr>
              <a:t>AI governance: Copilot agents, memory &amp; analytics need policy</a:t>
            </a:r>
          </a:p>
        </p:txBody>
      </p:sp>
      <p:sp>
        <p:nvSpPr>
          <p:cNvPr id="43" name="Oval 42"/>
          <p:cNvSpPr/>
          <p:nvPr/>
        </p:nvSpPr>
        <p:spPr>
          <a:xfrm>
            <a:off x="8046720" y="4507992"/>
            <a:ext cx="91440" cy="91440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4453128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32A"/>
                </a:solidFill>
                <a:latin typeface="Segoe UI"/>
              </a:rPr>
              <a:t>SharePoint governance dashboards shift control to site owners</a:t>
            </a:r>
          </a:p>
        </p:txBody>
      </p:sp>
      <p:sp>
        <p:nvSpPr>
          <p:cNvPr id="45" name="Oval 44"/>
          <p:cNvSpPr/>
          <p:nvPr/>
        </p:nvSpPr>
        <p:spPr>
          <a:xfrm>
            <a:off x="8046720" y="5020056"/>
            <a:ext cx="91440" cy="91440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5320" y="4965192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32A"/>
                </a:solidFill>
                <a:latin typeface="Segoe UI"/>
              </a:rPr>
              <a:t>Decisions needed: meeting consent, AI archive retention</a:t>
            </a:r>
          </a:p>
        </p:txBody>
      </p:sp>
      <p:sp>
        <p:nvSpPr>
          <p:cNvPr id="47" name="Oval 46"/>
          <p:cNvSpPr/>
          <p:nvPr/>
        </p:nvSpPr>
        <p:spPr>
          <a:xfrm>
            <a:off x="8046720" y="5532120"/>
            <a:ext cx="91440" cy="91440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20" y="5477256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32A"/>
                </a:solidFill>
                <a:latin typeface="Segoe UI"/>
              </a:rPr>
              <a:t>UX changes (Teams toolbar, file sharing) → user comms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0667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Roadmap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D3E0"/>
                </a:solidFill>
                <a:latin typeface="Segoe UI"/>
              </a:rPr>
              <a:t>Feature counts by workload and horizon (Worldwide). Detail follows per workload.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274320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WORKLOAD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234440"/>
            <a:ext cx="2834640" cy="50292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1261872"/>
            <a:ext cx="28346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30-DAY   </a:t>
            </a:r>
            <a:r>
              <a:rPr sz="1000" b="0" i="0">
                <a:solidFill>
                  <a:srgbClr val="FFFFFF"/>
                </a:solidFill>
                <a:latin typeface="Segoe UI"/>
              </a:rPr>
              <a:t>June CY2026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153912" y="1234440"/>
            <a:ext cx="2834640" cy="502920"/>
          </a:xfrm>
          <a:prstGeom prst="rect">
            <a:avLst/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53912" y="1261872"/>
            <a:ext cx="28346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60-DAY   </a:t>
            </a:r>
            <a:r>
              <a:rPr sz="1000" b="0" i="0">
                <a:solidFill>
                  <a:srgbClr val="FFFFFF"/>
                </a:solidFill>
                <a:latin typeface="Segoe UI"/>
              </a:rPr>
              <a:t>July CY2026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61704" y="1234440"/>
            <a:ext cx="2834640" cy="502920"/>
          </a:xfrm>
          <a:prstGeom prst="rect">
            <a:avLst/>
          </a:prstGeom>
          <a:solidFill>
            <a:srgbClr val="2B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61704" y="1261872"/>
            <a:ext cx="28346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90-DAY   </a:t>
            </a:r>
            <a:r>
              <a:rPr sz="1000" b="0" i="0">
                <a:solidFill>
                  <a:srgbClr val="FFFFFF"/>
                </a:solidFill>
                <a:latin typeface="Segoe UI"/>
              </a:rPr>
              <a:t>Aug–Sep CY2026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783080"/>
            <a:ext cx="2743200" cy="10241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783080"/>
            <a:ext cx="91440" cy="1024128"/>
          </a:xfrm>
          <a:prstGeom prst="rect">
            <a:avLst/>
          </a:prstGeom>
          <a:solidFill>
            <a:srgbClr val="0383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783080"/>
            <a:ext cx="2468880" cy="10241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32A"/>
                </a:solidFill>
                <a:latin typeface="Segoe UI"/>
              </a:rPr>
              <a:t>SharePoint Online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783080"/>
            <a:ext cx="2834640" cy="10241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5848" y="1856232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38387"/>
                </a:solidFill>
                <a:latin typeface="Segoe UI"/>
              </a:rPr>
              <a:t>7 </a:t>
            </a:r>
            <a:r>
              <a:rPr sz="1000" b="0" i="0">
                <a:solidFill>
                  <a:srgbClr val="606670"/>
                </a:solidFill>
                <a:latin typeface="Segoe UI"/>
              </a:rPr>
              <a:t>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2286000"/>
            <a:ext cx="26517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06670"/>
                </a:solidFill>
                <a:latin typeface="Segoe UI"/>
              </a:rPr>
              <a:t>Lead: </a:t>
            </a:r>
            <a:r>
              <a:rPr sz="950" b="0" i="0">
                <a:solidFill>
                  <a:srgbClr val="20232A"/>
                </a:solidFill>
                <a:latin typeface="Segoe UI"/>
              </a:rPr>
              <a:t>Governance Reviews Dashboard for Site Ow…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3912" y="1783080"/>
            <a:ext cx="2834640" cy="10241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856232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38387"/>
                </a:solidFill>
                <a:latin typeface="Segoe UI"/>
              </a:rPr>
              <a:t>3 </a:t>
            </a:r>
            <a:r>
              <a:rPr sz="1000" b="0" i="0">
                <a:solidFill>
                  <a:srgbClr val="606670"/>
                </a:solidFill>
                <a:latin typeface="Segoe UI"/>
              </a:rPr>
              <a:t>updates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286000"/>
            <a:ext cx="26517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06670"/>
                </a:solidFill>
                <a:latin typeface="Segoe UI"/>
              </a:rPr>
              <a:t>Lead: </a:t>
            </a:r>
            <a:r>
              <a:rPr sz="950" b="0" i="0">
                <a:solidFill>
                  <a:srgbClr val="20232A"/>
                </a:solidFill>
                <a:latin typeface="Segoe UI"/>
              </a:rPr>
              <a:t>AI citations analytics for documents and…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61704" y="1783080"/>
            <a:ext cx="2834640" cy="10241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1856232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38387"/>
                </a:solidFill>
                <a:latin typeface="Segoe UI"/>
              </a:rPr>
              <a:t>2 </a:t>
            </a:r>
            <a:r>
              <a:rPr sz="1000" b="0" i="0">
                <a:solidFill>
                  <a:srgbClr val="606670"/>
                </a:solidFill>
                <a:latin typeface="Segoe UI"/>
              </a:rPr>
              <a:t>updates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286000"/>
            <a:ext cx="26517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06670"/>
                </a:solidFill>
                <a:latin typeface="Segoe UI"/>
              </a:rPr>
              <a:t>Lead: </a:t>
            </a:r>
            <a:r>
              <a:rPr sz="950" b="0" i="0">
                <a:solidFill>
                  <a:srgbClr val="20232A"/>
                </a:solidFill>
                <a:latin typeface="Segoe UI"/>
              </a:rPr>
              <a:t>The Next Generation of File &amp; Folder Sha…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862072"/>
            <a:ext cx="274320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2862072"/>
            <a:ext cx="91440" cy="1024128"/>
          </a:xfrm>
          <a:prstGeom prst="rect">
            <a:avLst/>
          </a:prstGeom>
          <a:solidFill>
            <a:srgbClr val="626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862072"/>
            <a:ext cx="2468880" cy="10241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32A"/>
                </a:solidFill>
                <a:latin typeface="Segoe UI"/>
              </a:rPr>
              <a:t>Microsoft Teams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46120" y="2862072"/>
            <a:ext cx="283464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55848" y="2935224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6264A7"/>
                </a:solidFill>
                <a:latin typeface="Segoe UI"/>
              </a:rPr>
              <a:t>30 </a:t>
            </a:r>
            <a:r>
              <a:rPr sz="1000" b="0" i="0">
                <a:solidFill>
                  <a:srgbClr val="606670"/>
                </a:solidFill>
                <a:latin typeface="Segoe UI"/>
              </a:rPr>
              <a:t>updates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3364992"/>
            <a:ext cx="26517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06670"/>
                </a:solidFill>
                <a:latin typeface="Segoe UI"/>
              </a:rPr>
              <a:t>Lead: </a:t>
            </a:r>
            <a:r>
              <a:rPr sz="950" b="0" i="0">
                <a:solidFill>
                  <a:srgbClr val="20232A"/>
                </a:solidFill>
                <a:latin typeface="Segoe UI"/>
              </a:rPr>
              <a:t>Sensitivity label inheritance for Loop m…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53912" y="2862072"/>
            <a:ext cx="283464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2935224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6264A7"/>
                </a:solidFill>
                <a:latin typeface="Segoe UI"/>
              </a:rPr>
              <a:t>39 </a:t>
            </a:r>
            <a:r>
              <a:rPr sz="1000" b="0" i="0">
                <a:solidFill>
                  <a:srgbClr val="606670"/>
                </a:solidFill>
                <a:latin typeface="Segoe UI"/>
              </a:rPr>
              <a:t>updates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364992"/>
            <a:ext cx="26517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06670"/>
                </a:solidFill>
                <a:latin typeface="Segoe UI"/>
              </a:rPr>
              <a:t>Lead: </a:t>
            </a:r>
            <a:r>
              <a:rPr sz="950" b="0" i="0">
                <a:solidFill>
                  <a:srgbClr val="20232A"/>
                </a:solidFill>
                <a:latin typeface="Segoe UI"/>
              </a:rPr>
              <a:t>AI-generated meeting archive for knowled…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61704" y="2862072"/>
            <a:ext cx="283464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71432" y="2935224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6264A7"/>
                </a:solidFill>
                <a:latin typeface="Segoe UI"/>
              </a:rPr>
              <a:t>6 </a:t>
            </a:r>
            <a:r>
              <a:rPr sz="1000" b="0" i="0">
                <a:solidFill>
                  <a:srgbClr val="606670"/>
                </a:solidFill>
                <a:latin typeface="Segoe UI"/>
              </a:rPr>
              <a:t>updates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1432" y="3364992"/>
            <a:ext cx="26517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06670"/>
                </a:solidFill>
                <a:latin typeface="Segoe UI"/>
              </a:rPr>
              <a:t>Lead: </a:t>
            </a:r>
            <a:r>
              <a:rPr sz="950" b="0" i="0">
                <a:solidFill>
                  <a:srgbClr val="20232A"/>
                </a:solidFill>
                <a:latin typeface="Segoe UI"/>
              </a:rPr>
              <a:t>Copilot in Teams can analyze content sha…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941064"/>
            <a:ext cx="2743200" cy="10241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3941064"/>
            <a:ext cx="91440" cy="1024128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3941064"/>
            <a:ext cx="2468880" cy="10241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32A"/>
                </a:solidFill>
                <a:latin typeface="Segoe UI"/>
              </a:rPr>
              <a:t>Microsoft Copilot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46120" y="3941064"/>
            <a:ext cx="2834640" cy="10241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55848" y="4014216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F6CBD"/>
                </a:solidFill>
                <a:latin typeface="Segoe UI"/>
              </a:rPr>
              <a:t>55 </a:t>
            </a:r>
            <a:r>
              <a:rPr sz="1000" b="0" i="0">
                <a:solidFill>
                  <a:srgbClr val="606670"/>
                </a:solidFill>
                <a:latin typeface="Segoe UI"/>
              </a:rPr>
              <a:t>updates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55848" y="4443984"/>
            <a:ext cx="26517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06670"/>
                </a:solidFill>
                <a:latin typeface="Segoe UI"/>
              </a:rPr>
              <a:t>Lead: </a:t>
            </a:r>
            <a:r>
              <a:rPr sz="950" b="0" i="0">
                <a:solidFill>
                  <a:srgbClr val="20232A"/>
                </a:solidFill>
                <a:latin typeface="Segoe UI"/>
              </a:rPr>
              <a:t>Copilot Analytics - Highlights on Copilo…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53912" y="3941064"/>
            <a:ext cx="2834640" cy="10241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4014216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F6CBD"/>
                </a:solidFill>
                <a:latin typeface="Segoe UI"/>
              </a:rPr>
              <a:t>12 </a:t>
            </a:r>
            <a:r>
              <a:rPr sz="1000" b="0" i="0">
                <a:solidFill>
                  <a:srgbClr val="606670"/>
                </a:solidFill>
                <a:latin typeface="Segoe UI"/>
              </a:rPr>
              <a:t>updates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443984"/>
            <a:ext cx="26517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06670"/>
                </a:solidFill>
                <a:latin typeface="Segoe UI"/>
              </a:rPr>
              <a:t>Lead: </a:t>
            </a:r>
            <a:r>
              <a:rPr sz="950" b="0" i="0">
                <a:solidFill>
                  <a:srgbClr val="20232A"/>
                </a:solidFill>
                <a:latin typeface="Segoe UI"/>
              </a:rPr>
              <a:t>Frontier and Microsoft agent user reques…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61704" y="3941064"/>
            <a:ext cx="2834640" cy="10241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71432" y="4014216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F6CBD"/>
                </a:solidFill>
                <a:latin typeface="Segoe UI"/>
              </a:rPr>
              <a:t>11 </a:t>
            </a:r>
            <a:r>
              <a:rPr sz="1000" b="0" i="0">
                <a:solidFill>
                  <a:srgbClr val="606670"/>
                </a:solidFill>
                <a:latin typeface="Segoe UI"/>
              </a:rPr>
              <a:t>updates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71432" y="4443984"/>
            <a:ext cx="26517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06670"/>
                </a:solidFill>
                <a:latin typeface="Segoe UI"/>
              </a:rPr>
              <a:t>Lead: </a:t>
            </a:r>
            <a:r>
              <a:rPr sz="950" b="0" i="0">
                <a:solidFill>
                  <a:srgbClr val="20232A"/>
                </a:solidFill>
                <a:latin typeface="Segoe UI"/>
              </a:rPr>
              <a:t>Microsoft 365 Admin Center: Usage report…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020056"/>
            <a:ext cx="274320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" y="5020056"/>
            <a:ext cx="91440" cy="1024128"/>
          </a:xfrm>
          <a:prstGeom prst="rect">
            <a:avLst/>
          </a:prstGeom>
          <a:solidFill>
            <a:srgbClr val="0A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5020056"/>
            <a:ext cx="2468880" cy="10241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32A"/>
                </a:solidFill>
                <a:latin typeface="Segoe UI"/>
              </a:rPr>
              <a:t>Exchange Online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46120" y="5020056"/>
            <a:ext cx="283464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55848" y="5093208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A5E2A"/>
                </a:solidFill>
                <a:latin typeface="Segoe UI"/>
              </a:rPr>
              <a:t>11 </a:t>
            </a:r>
            <a:r>
              <a:rPr sz="1000" b="0" i="0">
                <a:solidFill>
                  <a:srgbClr val="606670"/>
                </a:solidFill>
                <a:latin typeface="Segoe UI"/>
              </a:rPr>
              <a:t>updates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55848" y="5522976"/>
            <a:ext cx="26517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06670"/>
                </a:solidFill>
                <a:latin typeface="Segoe UI"/>
              </a:rPr>
              <a:t>Lead: </a:t>
            </a:r>
            <a:r>
              <a:rPr sz="950" b="0" i="0">
                <a:solidFill>
                  <a:srgbClr val="20232A"/>
                </a:solidFill>
                <a:latin typeface="Segoe UI"/>
              </a:rPr>
              <a:t>Delimiter setting admin policy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53912" y="5020056"/>
            <a:ext cx="283464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63640" y="5093208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A5E2A"/>
                </a:solidFill>
                <a:latin typeface="Segoe UI"/>
              </a:rPr>
              <a:t>9 </a:t>
            </a:r>
            <a:r>
              <a:rPr sz="1000" b="0" i="0">
                <a:solidFill>
                  <a:srgbClr val="606670"/>
                </a:solidFill>
                <a:latin typeface="Segoe UI"/>
              </a:rPr>
              <a:t>updates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5522976"/>
            <a:ext cx="26517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06670"/>
                </a:solidFill>
                <a:latin typeface="Segoe UI"/>
              </a:rPr>
              <a:t>Lead: </a:t>
            </a:r>
            <a:r>
              <a:rPr sz="950" b="0" i="0">
                <a:solidFill>
                  <a:srgbClr val="20232A"/>
                </a:solidFill>
                <a:latin typeface="Segoe UI"/>
              </a:rPr>
              <a:t>View, edit &amp; share Copilot Pages with Ou…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704" y="5020056"/>
            <a:ext cx="283464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71432" y="5093208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A5E2A"/>
                </a:solidFill>
                <a:latin typeface="Segoe UI"/>
              </a:rPr>
              <a:t>4 </a:t>
            </a:r>
            <a:r>
              <a:rPr sz="1000" b="0" i="0">
                <a:solidFill>
                  <a:srgbClr val="606670"/>
                </a:solidFill>
                <a:latin typeface="Segoe UI"/>
              </a:rPr>
              <a:t>updates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71432" y="5522976"/>
            <a:ext cx="26517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06670"/>
                </a:solidFill>
                <a:latin typeface="Segoe UI"/>
              </a:rPr>
              <a:t>Lead: </a:t>
            </a:r>
            <a:r>
              <a:rPr sz="950" b="0" i="0">
                <a:solidFill>
                  <a:srgbClr val="20232A"/>
                </a:solidFill>
                <a:latin typeface="Segoe UI"/>
              </a:rPr>
              <a:t>All Accounts view (Unified Inbox) brings…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606670"/>
                </a:solidFill>
                <a:latin typeface="Segoe UI"/>
              </a:rPr>
              <a:t>Source: Microsoft 365 Roadmap  •  Worldwide (Standard Multi-Tenant)  •  Generated 10 Jun 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0667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83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229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SharePoint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30 / 60 / 90-day delivery outlook  •  Worldwide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20" y="32004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12 TOTAL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3703320" cy="566928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4290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30-DAY  </a:t>
            </a:r>
            <a:r>
              <a:rPr sz="1050" b="0" i="0">
                <a:solidFill>
                  <a:srgbClr val="FFFFFF"/>
                </a:solidFill>
                <a:latin typeface="Segoe UI"/>
              </a:rPr>
              <a:t>June CY2026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7 updates in window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47088"/>
            <a:ext cx="3703320" cy="38862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6072" y="201168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383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#0541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231136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Governance Reviews Dashboard for Site Owners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1993392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007108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" y="257860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383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#1025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798064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Power Automate trigger and action for forms in SharePoint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" y="2560320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2574036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" y="314553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383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#1038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3364992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Admin Center - detailed report on Everyone except extern…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" y="3127248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3140964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" y="3712464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383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#1039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3931920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Admin Center - Data Access Governance - Permission repor…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" y="3694176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3707892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" y="427939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383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#2018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498848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AI overview for SharePoint News posts in the SharePoint 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" y="4261104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4274820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" y="484632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383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#0596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" y="5065776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AI in SharePoint can generate code to translate your int…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" y="4828032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4841748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24528" y="1280160"/>
            <a:ext cx="3703320" cy="566928"/>
          </a:xfrm>
          <a:prstGeom prst="rect">
            <a:avLst/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61688" y="1325880"/>
            <a:ext cx="34290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60-DAY  </a:t>
            </a:r>
            <a:r>
              <a:rPr sz="1050" b="0" i="0">
                <a:solidFill>
                  <a:srgbClr val="FFFFFF"/>
                </a:solidFill>
                <a:latin typeface="Segoe UI"/>
              </a:rPr>
              <a:t>July CY2026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3 updates in window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24528" y="1847088"/>
            <a:ext cx="3703320" cy="38862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89120" y="201168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383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#0725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2231136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AI citations analytics for documents and pages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1993392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47488" y="2007108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0" y="257860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383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#5027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2798064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Agent Access Insights heatmap for SharePoint and OneDriv…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2560320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47488" y="2574036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0" y="314553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383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#7371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3364992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Microsoft 365 Archive file-level archiving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0" y="3127248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47488" y="3140964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37576" y="1280160"/>
            <a:ext cx="3703320" cy="566928"/>
          </a:xfrm>
          <a:prstGeom prst="rect">
            <a:avLst/>
          </a:prstGeom>
          <a:solidFill>
            <a:srgbClr val="2B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74736" y="1325880"/>
            <a:ext cx="34290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90-DAY  </a:t>
            </a:r>
            <a:r>
              <a:rPr sz="1050" b="0" i="0">
                <a:solidFill>
                  <a:srgbClr val="FFFFFF"/>
                </a:solidFill>
                <a:latin typeface="Segoe UI"/>
              </a:rPr>
              <a:t>Aug–Sep CY2026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2 updates in window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37576" y="1847088"/>
            <a:ext cx="3703320" cy="38862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202168" y="201168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383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#2622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02168" y="2231136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The Next Generation of File &amp; Folder Sharing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02168" y="1993392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60536" y="2007108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02168" y="257860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383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#8441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02168" y="2798064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Plan and Create Pages with AI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02168" y="2560320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860536" y="2574036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5852160"/>
            <a:ext cx="11338560" cy="868680"/>
          </a:xfrm>
          <a:prstGeom prst="rect">
            <a:avLst/>
          </a:prstGeom>
          <a:solidFill>
            <a:srgbClr val="10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5925312"/>
            <a:ext cx="2743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FC6F0"/>
                </a:solidFill>
                <a:latin typeface="Segoe UI"/>
              </a:rPr>
              <a:t>ARCHITECT'S CALL-OUTS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" y="6199632"/>
            <a:ext cx="36118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7F37"/>
                </a:solidFill>
                <a:latin typeface="Segoe UI"/>
              </a:rPr>
              <a:t>▸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Governance-heavy quarter: Data Access Governance permission reports &amp; site-owner review dashboards land first — assign owners now.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97680" y="6199632"/>
            <a:ext cx="36118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76E00"/>
                </a:solidFill>
                <a:latin typeface="Segoe UI"/>
              </a:rPr>
              <a:t>▸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AI authoring (code-gen, page creation, structured docs) arrives mid-window — define guardrails before enabling.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01000" y="6199632"/>
            <a:ext cx="36118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B579A"/>
                </a:solidFill>
                <a:latin typeface="Segoe UI"/>
              </a:rPr>
              <a:t>▸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Next-gen file &amp; folder sharing (90-day) changes the sharing UX — plan user comms.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0667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26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229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Microsoft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30 / 60 / 90-day delivery outlook  •  Worldwide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20" y="32004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75 TOTAL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3703320" cy="566928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4290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30-DAY  </a:t>
            </a:r>
            <a:r>
              <a:rPr sz="1050" b="0" i="0">
                <a:solidFill>
                  <a:srgbClr val="FFFFFF"/>
                </a:solidFill>
                <a:latin typeface="Segoe UI"/>
              </a:rPr>
              <a:t>June CY2026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30 updates in window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47088"/>
            <a:ext cx="3703320" cy="38862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6072" y="201168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626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#5857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231136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Sensitivity label inheritance for Loop meeting 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1993392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007108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" y="257860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626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#7178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798064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Sensitivity label inheritance for meeting recordings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" y="2560320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2574036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" y="314553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626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#0816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3364992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Quick Share for Images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" y="3127248"/>
            <a:ext cx="0" cy="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3140964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A7F37"/>
                </a:solidFill>
                <a:latin typeface="Segoe UI"/>
              </a:rPr>
              <a:t>Rolling 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" y="3712464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626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#1321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3931920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SharePoint thumbnail previews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" y="3694176"/>
            <a:ext cx="0" cy="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3707892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A7F37"/>
                </a:solidFill>
                <a:latin typeface="Segoe UI"/>
              </a:rPr>
              <a:t>Rolling out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" y="427939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626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#1912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498848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Shared &amp; Delegate Mailbox Scheduling for Events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" y="4261104"/>
            <a:ext cx="0" cy="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4274820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A7F37"/>
                </a:solidFill>
                <a:latin typeface="Segoe UI"/>
              </a:rPr>
              <a:t>Rolling out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" y="484632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626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#0547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" y="5065776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Report external users for security concerns in Teams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" y="4828032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4841748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24528" y="1280160"/>
            <a:ext cx="3703320" cy="566928"/>
          </a:xfrm>
          <a:prstGeom prst="rect">
            <a:avLst/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61688" y="1325880"/>
            <a:ext cx="34290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60-DAY  </a:t>
            </a:r>
            <a:r>
              <a:rPr sz="1050" b="0" i="0">
                <a:solidFill>
                  <a:srgbClr val="FFFFFF"/>
                </a:solidFill>
                <a:latin typeface="Segoe UI"/>
              </a:rPr>
              <a:t>July CY2026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39 updates in window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24528" y="1847088"/>
            <a:ext cx="3703320" cy="38862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89120" y="201168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626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#8933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2231136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AI-generated meeting archive for knowledge retention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1993392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47488" y="2007108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0" y="257860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626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#8255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2798064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Run SMB admin tasks faster with Microsoft 365 Admin Agen…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2560320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47488" y="2574036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0" y="314553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626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#0702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3364992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Security Detection Report in Teams Admin Center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0" y="3127248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47488" y="3140964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89120" y="3712464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626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#5215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3931920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Automatic recording and transcription for Teams Call Que…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3694176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47488" y="3707892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89120" y="427939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626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#5217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4498848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Tenant-level dashboard for Interpreter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89120" y="4261104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47488" y="4274820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89120" y="484632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626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#0318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5065776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AI-powered notes for in-person meetings with Facilitator…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0" y="4828032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47488" y="4841748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37576" y="1280160"/>
            <a:ext cx="3703320" cy="566928"/>
          </a:xfrm>
          <a:prstGeom prst="rect">
            <a:avLst/>
          </a:prstGeom>
          <a:solidFill>
            <a:srgbClr val="2B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74736" y="1325880"/>
            <a:ext cx="34290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90-DAY  </a:t>
            </a:r>
            <a:r>
              <a:rPr sz="1050" b="0" i="0">
                <a:solidFill>
                  <a:srgbClr val="FFFFFF"/>
                </a:solidFill>
                <a:latin typeface="Segoe UI"/>
              </a:rPr>
              <a:t>Aug–Sep CY2026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6 updates in window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37576" y="1847088"/>
            <a:ext cx="3703320" cy="38862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202168" y="201168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626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#5873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02168" y="2231136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Copilot in Teams can analyze content shared on-screen du…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02168" y="1993392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60536" y="2007108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202168" y="257860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626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#0564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02168" y="2798064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Interactive Agents for Teams Meetings and Calls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02168" y="2560320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860536" y="2574036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202168" y="314553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626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#3213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02168" y="3364992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Teams frontline BYOD onboarding wizard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02168" y="3127248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860536" y="3140964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202168" y="3712464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626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#2665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02168" y="3931920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Interpreter agent support in Teams Rooms on Android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02168" y="3694176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860536" y="3707892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202168" y="427939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626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#9534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02168" y="4498848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Local PTZ for Microsoft Teams Rooms on Windows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202168" y="4261104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860536" y="4274820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202168" y="484632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626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#4612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02168" y="5065776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Inline search in compose box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02168" y="4828032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860536" y="4841748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11480" y="5852160"/>
            <a:ext cx="11338560" cy="868680"/>
          </a:xfrm>
          <a:prstGeom prst="rect">
            <a:avLst/>
          </a:prstGeom>
          <a:solidFill>
            <a:srgbClr val="10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5925312"/>
            <a:ext cx="2743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FC6F0"/>
                </a:solidFill>
                <a:latin typeface="Segoe UI"/>
              </a:rPr>
              <a:t>ARCHITECT'S CALL-OUTS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4360" y="6199632"/>
            <a:ext cx="36118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7F37"/>
                </a:solidFill>
                <a:latin typeface="Segoe UI"/>
              </a:rPr>
              <a:t>▸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30-day wave is security/compliance: sensitivity-label inheritance for recordings &amp; Loop notes, external-user reporting.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97680" y="6199632"/>
            <a:ext cx="36118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76E00"/>
                </a:solidFill>
                <a:latin typeface="Segoe UI"/>
              </a:rPr>
              <a:t>▸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July is the spike (39 features). Mandatory pre-meeting consent + AI meeting archive need a Legal/Compliance decision first.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001000" y="6199632"/>
            <a:ext cx="36118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B579A"/>
                </a:solidFill>
                <a:latin typeface="Segoe UI"/>
              </a:rPr>
              <a:t>▸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UX changes (meeting toolbar redesign) and scale (1,000-attendee breakouts) will drive tickets — pre-brief the service desk.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0667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229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Microsoft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30 / 60 / 90-day delivery outlook  •  Worldwide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20" y="32004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78 TOTAL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3703320" cy="566928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4290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30-DAY  </a:t>
            </a:r>
            <a:r>
              <a:rPr sz="1050" b="0" i="0">
                <a:solidFill>
                  <a:srgbClr val="FFFFFF"/>
                </a:solidFill>
                <a:latin typeface="Segoe UI"/>
              </a:rPr>
              <a:t>June CY2026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55 updates in window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47088"/>
            <a:ext cx="3703320" cy="38862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6072" y="201168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#1813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231136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Copilot Analytics - Highlights on Copilot adoption from 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1993392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007108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" y="257860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#9571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798064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Microsoft 365 admin center: Usage reports – Microsoft 36…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" y="2560320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2574036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" y="314553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#1037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3364992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Vision in Microsoft 365 Copilot can analyze content shar…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" y="3127248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3140964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" y="3712464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#6698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3931920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Copilot Analytics - Prompt category metrics for Microsof…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" y="3694176"/>
            <a:ext cx="0" cy="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3707892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B02A2A"/>
                </a:solidFill>
                <a:latin typeface="Segoe UI"/>
              </a:rPr>
              <a:t>Cancelled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" y="427939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#2030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498848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Microsoft Purview compliance portal: Data Lifecycle Mana…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" y="4261104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4274820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" y="484632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#0706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" y="5065776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Teams Meetings in Copilot Notebooks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" y="4828032"/>
            <a:ext cx="0" cy="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4841748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A7F37"/>
                </a:solidFill>
                <a:latin typeface="Segoe UI"/>
              </a:rPr>
              <a:t>Rolling out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24528" y="1280160"/>
            <a:ext cx="3703320" cy="566928"/>
          </a:xfrm>
          <a:prstGeom prst="rect">
            <a:avLst/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61688" y="1325880"/>
            <a:ext cx="34290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60-DAY  </a:t>
            </a:r>
            <a:r>
              <a:rPr sz="1050" b="0" i="0">
                <a:solidFill>
                  <a:srgbClr val="FFFFFF"/>
                </a:solidFill>
                <a:latin typeface="Segoe UI"/>
              </a:rPr>
              <a:t>July CY2026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12 updates in window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24528" y="1847088"/>
            <a:ext cx="3703320" cy="38862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89120" y="201168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#4809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2231136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Frontier and Microsoft agent user request approval flow 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1993392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47488" y="2007108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0" y="257860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#7999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2798064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Microsoft 365 admin center: Agents usage report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2560320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47488" y="2574036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0" y="314553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#0872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3364992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Export Copilot metrics in the Copilot Dashboard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0" y="3127248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47488" y="3140964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89120" y="3712464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#5896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3931920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Structured Document Generation with Forms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3694176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47488" y="3707892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89120" y="427939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#1195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4498848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Enhanced M365 Copilot Memory - Copilot is now personaliz…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89120" y="4261104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47488" y="4274820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89120" y="484632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#4910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5065776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Outlook Emails in Copilot Notebooks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0" y="4828032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47488" y="4841748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37576" y="1280160"/>
            <a:ext cx="3703320" cy="566928"/>
          </a:xfrm>
          <a:prstGeom prst="rect">
            <a:avLst/>
          </a:prstGeom>
          <a:solidFill>
            <a:srgbClr val="2B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74736" y="1325880"/>
            <a:ext cx="34290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90-DAY  </a:t>
            </a:r>
            <a:r>
              <a:rPr sz="1050" b="0" i="0">
                <a:solidFill>
                  <a:srgbClr val="FFFFFF"/>
                </a:solidFill>
                <a:latin typeface="Segoe UI"/>
              </a:rPr>
              <a:t>Aug–Sep CY2026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11 updates in window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37576" y="1847088"/>
            <a:ext cx="3703320" cy="38862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202168" y="201168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#0738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02168" y="2231136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Microsoft 365 Admin Center: Usage reports - Message cons…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02168" y="1993392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60536" y="2007108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202168" y="257860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#7749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02168" y="2798064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Copilot Analytics - Export metrics in the Copilot Dashbo…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02168" y="2560320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860536" y="2574036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202168" y="314553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#6577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02168" y="3364992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Planner capabilities in Copilot chat (M365 Copilot)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02168" y="3127248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860536" y="3140964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202168" y="3712464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#1326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02168" y="3931920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Copilot People Connectors introduces people data ingesti…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02168" y="3694176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860536" y="3707892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202168" y="427939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#8640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02168" y="4498848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Capture voice notes in the Microsoft 365 Copilot mobile …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202168" y="4261104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860536" y="4274820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202168" y="484632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#6749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02168" y="5065776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Copilot Analytics - Agent Dashboard.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02168" y="4828032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860536" y="4841748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11480" y="5852160"/>
            <a:ext cx="11338560" cy="868680"/>
          </a:xfrm>
          <a:prstGeom prst="rect">
            <a:avLst/>
          </a:prstGeom>
          <a:solidFill>
            <a:srgbClr val="10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5925312"/>
            <a:ext cx="2743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FC6F0"/>
                </a:solidFill>
                <a:latin typeface="Segoe UI"/>
              </a:rPr>
              <a:t>ARCHITECT'S CALL-OUTS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4360" y="6199632"/>
            <a:ext cx="36118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7F37"/>
                </a:solidFill>
                <a:latin typeface="Segoe UI"/>
              </a:rPr>
              <a:t>▸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Measurement-first: Copilot Analytics, adoption dashboards &amp; agent usage reports dominate — stand up your adoption scorecard.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97680" y="6199632"/>
            <a:ext cx="36118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76E00"/>
                </a:solidFill>
                <a:latin typeface="Segoe UI"/>
              </a:rPr>
              <a:t>▸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Agent governance maturing: user-request approval flow + admin agent-usage reports enable controlled agent rollout.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001000" y="6199632"/>
            <a:ext cx="36118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B579A"/>
                </a:solidFill>
                <a:latin typeface="Segoe UI"/>
              </a:rPr>
              <a:t>▸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Copilot Memory &amp; People Connectors (personalization) raise data-governance questions — review before enabling.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0667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229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Exchange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30 / 60 / 90-day delivery outlook  •  Worldwide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20" y="32004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24 TOTAL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3703320" cy="566928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4290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30-DAY  </a:t>
            </a:r>
            <a:r>
              <a:rPr sz="1050" b="0" i="0">
                <a:solidFill>
                  <a:srgbClr val="FFFFFF"/>
                </a:solidFill>
                <a:latin typeface="Segoe UI"/>
              </a:rPr>
              <a:t>June CY2026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11 updates in window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47088"/>
            <a:ext cx="3703320" cy="38862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6072" y="201168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A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#7676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231136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Delimiter setting admin 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1993392"/>
            <a:ext cx="0" cy="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007108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A7F37"/>
                </a:solidFill>
                <a:latin typeface="Segoe UI"/>
              </a:rPr>
              <a:t>Rolling 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" y="257860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A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#3806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798064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Emails marked with External to be supported as Rules con…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" y="2560320"/>
            <a:ext cx="0" cy="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2574036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A7F37"/>
                </a:solidFill>
                <a:latin typeface="Segoe UI"/>
              </a:rPr>
              <a:t>Rolling 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" y="314553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A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#8524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3364992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User-initiated Copilot insights in classic Outlook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" y="3127248"/>
            <a:ext cx="0" cy="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3140964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A7F37"/>
                </a:solidFill>
                <a:latin typeface="Segoe UI"/>
              </a:rPr>
              <a:t>Rolling 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" y="3712464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A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#6839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3931920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Import calendars and contacts from PST file to mailbox i…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" y="3694176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3707892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" y="427939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A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#9990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498848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Copilot Search Suggestions for Outlook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" y="4261104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4274820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" y="484632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A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#4605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" y="5065776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Co-Authoring Highlight and Rewrite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" y="4828032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4841748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24528" y="1280160"/>
            <a:ext cx="3703320" cy="566928"/>
          </a:xfrm>
          <a:prstGeom prst="rect">
            <a:avLst/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61688" y="1325880"/>
            <a:ext cx="34290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60-DAY  </a:t>
            </a:r>
            <a:r>
              <a:rPr sz="1050" b="0" i="0">
                <a:solidFill>
                  <a:srgbClr val="FFFFFF"/>
                </a:solidFill>
                <a:latin typeface="Segoe UI"/>
              </a:rPr>
              <a:t>July CY2026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9 updates in window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24528" y="1847088"/>
            <a:ext cx="3703320" cy="38862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89120" y="201168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A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#9389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2231136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View, edit &amp; share Copilot Pages with Outlook for Android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1993392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47488" y="2007108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0" y="257860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A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#9989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2798064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Copilot now provides concise summaries with Outlook sear…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2560320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47488" y="2574036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0" y="314553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A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#7063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3364992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Grant mail delegate sharing permissions from the new Out…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0" y="3127248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47488" y="3140964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89120" y="3712464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A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#9851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3931920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Enriching profile cards with custom, organization-specif…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3694176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47488" y="3707892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89120" y="427939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A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#1491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4498848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Copilot Settings in classic Outlook for Windows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89120" y="4261104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47488" y="4274820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89120" y="484632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A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#1651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5065776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Export to PDF (preserving sensitivity labels)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0" y="4828032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47488" y="4841748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37576" y="1280160"/>
            <a:ext cx="3703320" cy="566928"/>
          </a:xfrm>
          <a:prstGeom prst="rect">
            <a:avLst/>
          </a:prstGeom>
          <a:solidFill>
            <a:srgbClr val="2B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74736" y="1325880"/>
            <a:ext cx="34290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90-DAY  </a:t>
            </a:r>
            <a:r>
              <a:rPr sz="1050" b="0" i="0">
                <a:solidFill>
                  <a:srgbClr val="FFFFFF"/>
                </a:solidFill>
                <a:latin typeface="Segoe UI"/>
              </a:rPr>
              <a:t>Aug–Sep CY2026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4 updates in window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37576" y="1847088"/>
            <a:ext cx="3703320" cy="38862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202168" y="201168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A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#4609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02168" y="2231136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All Accounts view (Unified Inbox) brings your email into…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02168" y="1993392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60536" y="2007108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202168" y="257860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A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#7675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02168" y="2798064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Share Word, Excel, and PowerPoint local files via the ne…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02168" y="2560320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860536" y="2574036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202168" y="314553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A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#3047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02168" y="3364992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Mail Merge (Advanced) on Outlook on the Web and new Outl…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02168" y="3127248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860536" y="3140964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202168" y="3712464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A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#3810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02168" y="3931920"/>
            <a:ext cx="33741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Segoe UI"/>
              </a:rPr>
              <a:t>Navigate Your Favorite Folders Without Expanding the Fol…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02168" y="3694176"/>
            <a:ext cx="0" cy="0"/>
          </a:xfrm>
          <a:prstGeom prst="rect">
            <a:avLst/>
          </a:prstGeom>
          <a:solidFill>
            <a:srgbClr val="5B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860536" y="3707892"/>
            <a:ext cx="2651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5B5F6B"/>
                </a:solidFill>
                <a:latin typeface="Segoe UI"/>
              </a:rPr>
              <a:t>In development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11480" y="5852160"/>
            <a:ext cx="11338560" cy="868680"/>
          </a:xfrm>
          <a:prstGeom prst="rect">
            <a:avLst/>
          </a:prstGeom>
          <a:solidFill>
            <a:srgbClr val="10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4360" y="5925312"/>
            <a:ext cx="2743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FC6F0"/>
                </a:solidFill>
                <a:latin typeface="Segoe UI"/>
              </a:rPr>
              <a:t>ARCHITECT'S CALL-OUTS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4360" y="6199632"/>
            <a:ext cx="36118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7F37"/>
                </a:solidFill>
                <a:latin typeface="Segoe UI"/>
              </a:rPr>
              <a:t>▸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Mail-flow control: "External"-tagged emails usable as Inbox Rules conditions — update mailflow guidance.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97680" y="6199632"/>
            <a:ext cx="36118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76E00"/>
                </a:solidFill>
                <a:latin typeface="Segoe UI"/>
              </a:rPr>
              <a:t>▸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Most items surface via Outlook clients; coordinate Exchange + Outlook owners on a single rollout plan.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01000" y="6199632"/>
            <a:ext cx="36118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B579A"/>
                </a:solidFill>
                <a:latin typeface="Segoe UI"/>
              </a:rPr>
              <a:t>▸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Lighter roadmap vs. Teams/Copilot — low change-management load this quarter.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0667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Recommended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3703320" cy="50292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34290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DECIDE (this month)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3703320" cy="338328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2011680"/>
            <a:ext cx="109728" cy="109728"/>
          </a:xfrm>
          <a:prstGeom prst="ellipse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65960"/>
            <a:ext cx="31546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32A"/>
                </a:solidFill>
                <a:latin typeface="Segoe UI"/>
              </a:rPr>
              <a:t>Teams mandatory pre-meeting consent — Legal/Compliance sign-off</a:t>
            </a:r>
          </a:p>
        </p:txBody>
      </p:sp>
      <p:sp>
        <p:nvSpPr>
          <p:cNvPr id="9" name="Oval 8"/>
          <p:cNvSpPr/>
          <p:nvPr/>
        </p:nvSpPr>
        <p:spPr>
          <a:xfrm>
            <a:off x="667512" y="2926080"/>
            <a:ext cx="109728" cy="109728"/>
          </a:xfrm>
          <a:prstGeom prst="ellipse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880360"/>
            <a:ext cx="31546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32A"/>
                </a:solidFill>
                <a:latin typeface="Segoe UI"/>
              </a:rPr>
              <a:t>Copilot AI meeting archive retention policy — Records team</a:t>
            </a:r>
          </a:p>
        </p:txBody>
      </p:sp>
      <p:sp>
        <p:nvSpPr>
          <p:cNvPr id="11" name="Oval 10"/>
          <p:cNvSpPr/>
          <p:nvPr/>
        </p:nvSpPr>
        <p:spPr>
          <a:xfrm>
            <a:off x="667512" y="3840480"/>
            <a:ext cx="109728" cy="109728"/>
          </a:xfrm>
          <a:prstGeom prst="ellipse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794760"/>
            <a:ext cx="31546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32A"/>
                </a:solidFill>
                <a:latin typeface="Segoe UI"/>
              </a:rPr>
              <a:t>SharePoint Data Access Governance — assign report owners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280160"/>
            <a:ext cx="3703320" cy="502920"/>
          </a:xfrm>
          <a:prstGeom prst="rect">
            <a:avLst/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298448"/>
            <a:ext cx="34290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PREPARE (30–60 days)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1783080"/>
            <a:ext cx="3703320" cy="338328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80560" y="2011680"/>
            <a:ext cx="109728" cy="109728"/>
          </a:xfrm>
          <a:prstGeom prst="ellipse">
            <a:avLst/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1965960"/>
            <a:ext cx="31546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32A"/>
                </a:solidFill>
                <a:latin typeface="Segoe UI"/>
              </a:rPr>
              <a:t>Stand up Copilot adoption &amp; agent-usage scorecard</a:t>
            </a:r>
          </a:p>
        </p:txBody>
      </p:sp>
      <p:sp>
        <p:nvSpPr>
          <p:cNvPr id="18" name="Oval 17"/>
          <p:cNvSpPr/>
          <p:nvPr/>
        </p:nvSpPr>
        <p:spPr>
          <a:xfrm>
            <a:off x="4480560" y="2926080"/>
            <a:ext cx="109728" cy="109728"/>
          </a:xfrm>
          <a:prstGeom prst="ellipse">
            <a:avLst/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0016" y="2880360"/>
            <a:ext cx="31546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32A"/>
                </a:solidFill>
                <a:latin typeface="Segoe UI"/>
              </a:rPr>
              <a:t>Define AI authoring guardrails (SharePoint code-gen, page AI)</a:t>
            </a:r>
          </a:p>
        </p:txBody>
      </p:sp>
      <p:sp>
        <p:nvSpPr>
          <p:cNvPr id="20" name="Oval 19"/>
          <p:cNvSpPr/>
          <p:nvPr/>
        </p:nvSpPr>
        <p:spPr>
          <a:xfrm>
            <a:off x="4480560" y="3840480"/>
            <a:ext cx="109728" cy="109728"/>
          </a:xfrm>
          <a:prstGeom prst="ellipse">
            <a:avLst/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3794760"/>
            <a:ext cx="31546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32A"/>
                </a:solidFill>
                <a:latin typeface="Segoe UI"/>
              </a:rPr>
              <a:t>Draft user comms for Teams toolbar redesign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9016" y="1280160"/>
            <a:ext cx="3703320" cy="502920"/>
          </a:xfrm>
          <a:prstGeom prst="rect">
            <a:avLst/>
          </a:prstGeom>
          <a:solidFill>
            <a:srgbClr val="2B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1298448"/>
            <a:ext cx="34290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MONITOR (60–90 days)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9016" y="1783080"/>
            <a:ext cx="3703320" cy="338328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93608" y="2011680"/>
            <a:ext cx="109728" cy="109728"/>
          </a:xfrm>
          <a:prstGeom prst="ellipse">
            <a:avLst/>
          </a:prstGeom>
          <a:solidFill>
            <a:srgbClr val="2B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13064" y="1965960"/>
            <a:ext cx="31546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32A"/>
                </a:solidFill>
                <a:latin typeface="Segoe UI"/>
              </a:rPr>
              <a:t>Next-gen file &amp; folder sharing UX change</a:t>
            </a:r>
          </a:p>
        </p:txBody>
      </p:sp>
      <p:sp>
        <p:nvSpPr>
          <p:cNvPr id="27" name="Oval 26"/>
          <p:cNvSpPr/>
          <p:nvPr/>
        </p:nvSpPr>
        <p:spPr>
          <a:xfrm>
            <a:off x="8293608" y="2926080"/>
            <a:ext cx="109728" cy="109728"/>
          </a:xfrm>
          <a:prstGeom prst="ellipse">
            <a:avLst/>
          </a:prstGeom>
          <a:solidFill>
            <a:srgbClr val="2B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13064" y="2880360"/>
            <a:ext cx="31546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32A"/>
                </a:solidFill>
                <a:latin typeface="Segoe UI"/>
              </a:rPr>
              <a:t>Copilot Memory &amp; People Connectors data governance</a:t>
            </a:r>
          </a:p>
        </p:txBody>
      </p:sp>
      <p:sp>
        <p:nvSpPr>
          <p:cNvPr id="29" name="Oval 28"/>
          <p:cNvSpPr/>
          <p:nvPr/>
        </p:nvSpPr>
        <p:spPr>
          <a:xfrm>
            <a:off x="8293608" y="3840480"/>
            <a:ext cx="109728" cy="109728"/>
          </a:xfrm>
          <a:prstGeom prst="ellipse">
            <a:avLst/>
          </a:prstGeom>
          <a:solidFill>
            <a:srgbClr val="2B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13064" y="3794760"/>
            <a:ext cx="31546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32A"/>
                </a:solidFill>
                <a:latin typeface="Segoe UI"/>
              </a:rPr>
              <a:t>Validate all dates against Message Center fortnightly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440680"/>
            <a:ext cx="11201400" cy="777240"/>
          </a:xfrm>
          <a:prstGeom prst="rect">
            <a:avLst/>
          </a:prstGeom>
          <a:solidFill>
            <a:srgbClr val="10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596128"/>
            <a:ext cx="107899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9FC6F0"/>
                </a:solidFill>
                <a:latin typeface="Segoe UI"/>
              </a:rPr>
              <a:t>Owner &amp; cadence: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Platform Architecture to review this roadmap monthly; reconcile against Microsoft Message Center and update 30/60/90 horizons each cycle.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606670"/>
                </a:solidFill>
                <a:latin typeface="Segoe UI"/>
              </a:rPr>
              <a:t>Source: Microsoft 365 Roadmap  •  Worldwide (Standard Multi-Tenant)  •  Generated 10 Jun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0667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